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1c3ff83bd544927" /><Relationship Type="http://schemas.openxmlformats.org/package/2006/relationships/metadata/core-properties" Target="/docProps/core.xml" Id="R144679ff2fbc4dc8" /><Relationship Type="http://schemas.openxmlformats.org/officeDocument/2006/relationships/extended-properties" Target="/docProps/app.xml" Id="Rc8f061febb434762" /><Relationship Type="http://schemas.openxmlformats.org/officeDocument/2006/relationships/custom-properties" Target="/docProps/custom.xml" Id="R083b444f674645ba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3cc3db6b0ff473c"/>
  </p:notesMasterIdLst>
  <p:sldIdLst>
    <p:sldId id="256" r:id="R168a96f3bc914951"/>
    <p:sldId id="257" r:id="R471e504fdc814c47"/>
    <p:sldId id="258" r:id="Ra2b82430876f479f"/>
    <p:sldId id="259" r:id="Rd557510876eb46f6"/>
    <p:sldId id="260" r:id="R4fbe5a8bd4af43a6"/>
    <p:sldId id="261" r:id="R27d87357048c4e74"/>
    <p:sldId id="262" r:id="R7e26bdc2fce5484f"/>
    <p:sldId id="263" r:id="R1112c5aff06a4484"/>
    <p:sldId id="264" r:id="R4012568d20984acb"/>
    <p:sldId id="265" r:id="R52df915a463c4e56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68a96f3bc914951" /><Relationship Type="http://schemas.openxmlformats.org/officeDocument/2006/relationships/notesMaster" Target="/ppt/notesMasters/notesMaster1.xml" Id="R83cc3db6b0ff473c" /><Relationship Type="http://schemas.openxmlformats.org/officeDocument/2006/relationships/slide" Target="/ppt/slides/slide2.xml" Id="R471e504fdc814c47" /><Relationship Type="http://schemas.openxmlformats.org/officeDocument/2006/relationships/slide" Target="/ppt/slides/slide3.xml" Id="Ra2b82430876f479f" /><Relationship Type="http://schemas.openxmlformats.org/officeDocument/2006/relationships/slide" Target="/ppt/slides/slide4.xml" Id="Rd557510876eb46f6" /><Relationship Type="http://schemas.openxmlformats.org/officeDocument/2006/relationships/slide" Target="/ppt/slides/slide5.xml" Id="R4fbe5a8bd4af43a6" /><Relationship Type="http://schemas.openxmlformats.org/officeDocument/2006/relationships/slide" Target="/ppt/slides/slide6.xml" Id="R27d87357048c4e74" /><Relationship Type="http://schemas.openxmlformats.org/officeDocument/2006/relationships/slide" Target="/ppt/slides/slide7.xml" Id="R7e26bdc2fce5484f" /><Relationship Type="http://schemas.openxmlformats.org/officeDocument/2006/relationships/slide" Target="/ppt/slides/slide8.xml" Id="R1112c5aff06a4484" /><Relationship Type="http://schemas.openxmlformats.org/officeDocument/2006/relationships/slide" Target="/ppt/slides/slide9.xml" Id="R4012568d20984acb" /><Relationship Type="http://schemas.openxmlformats.org/officeDocument/2006/relationships/slide" Target="/ppt/slides/slide10.xml" Id="R52df915a463c4e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a7705483e114496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55f790aad147f6" /><Relationship Type="http://schemas.openxmlformats.org/officeDocument/2006/relationships/slide" Target="/ppt/slides/slide1.xml" Id="R503030c421204e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52d2046ba024eca" /><Relationship Type="http://schemas.openxmlformats.org/officeDocument/2006/relationships/slide" Target="/ppt/slides/slide2.xml" Id="R28b1a109561c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403e08308cc47c6" /><Relationship Type="http://schemas.openxmlformats.org/officeDocument/2006/relationships/slide" Target="/ppt/slides/slide3.xml" Id="R6fd49b1bb4484b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842edb9ff3c43d9" /><Relationship Type="http://schemas.openxmlformats.org/officeDocument/2006/relationships/slide" Target="/ppt/slides/slide4.xml" Id="Re36e669ef47242e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c3550cb8a2c4df4" /><Relationship Type="http://schemas.openxmlformats.org/officeDocument/2006/relationships/slide" Target="/ppt/slides/slide5.xml" Id="Rc7b7f7e2321e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468473e693744b3" /><Relationship Type="http://schemas.openxmlformats.org/officeDocument/2006/relationships/slide" Target="/ppt/slides/slide6.xml" Id="R35adeaba7e1e4c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ac7820424a44ca6" /><Relationship Type="http://schemas.openxmlformats.org/officeDocument/2006/relationships/slide" Target="/ppt/slides/slide7.xml" Id="R6c0f752e214942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2c1f815a6df4382" /><Relationship Type="http://schemas.openxmlformats.org/officeDocument/2006/relationships/slide" Target="/ppt/slides/slide8.xml" Id="R97a4a43a2bb44e0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d74d840571e43ca" /><Relationship Type="http://schemas.openxmlformats.org/officeDocument/2006/relationships/slide" Target="/ppt/slides/slide9.xml" Id="R14b7f2aba3fe45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16c9c963ad44b5" /><Relationship Type="http://schemas.openxmlformats.org/officeDocument/2006/relationships/slide" Target="/ppt/slides/slide10.xml" Id="R249b2eebae20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slide. Gir AI Guardian is a multi-agent AI platform designed to mitigate human-wildlife conflicts in Gir Forest, Gujarat.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Gir Forest is the only home of the Asiatic Lion. Over 600 lions share space with 300+ villages. The lack of early warning systems leads to livestock losses, human-wildlife conflicts, and slows compensation.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Gir AI Guardian orchestrates 5 specialized AI agents powered by Groq's LLaMA 3.3 70B model, each with a domain-specific system prompt. Accessible through a React web UI.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React frontend communicates with the Express backend via REST and Server-Sent Events for streaming. The backend routes each chat message to the correct agent system prompt and calls Groq's API.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Wildlife Movement Agent uses the Groq LLaMA model with a specialized system prompt. It processes natural language incident reports and outputs structured, actionable intelligence for forest rangers.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Village Alert Agent ensures villagers receive timely, clear warnings in their local language. The Forest Coordination Agent acts as a command-and-control system for field teams.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Compensation Agent reduces the intimidation of bureaucratic processes. The Hotspot Analysis Agent transforms raw incident data into strategic intelligence for forest department leadership.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dashboard provides real-time operational intelligence. Response times have improved 42% since platform deployment. The 79% compensation approval rate shows improved case preparation.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Groq was chosen for its best-in-class inference speed, critical for emergency alerting use cases. The LLaMA 3.3 70B model provides the reasoning depth needed for complex wildlife scenario analysis.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Gir AI Guardian demonstrates how multi-agent AI systems can be applied to conservation challenges. The architecture is scalable and can be adapted to other wildlife corridors across India.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c8417badc74f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0b2fd43a245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c856245404f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711e586c745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019b5b13b43c0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026a7a81af484d8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36583640e4a3d" /><Relationship Type="http://schemas.openxmlformats.org/officeDocument/2006/relationships/notesSlide" Target="/ppt/notesSlides/notesSlide1.xml" Id="R9face549bf51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397eb1db6418b" /><Relationship Type="http://schemas.openxmlformats.org/officeDocument/2006/relationships/notesSlide" Target="/ppt/notesSlides/notesSlide2.xml" Id="Re47195558332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4d3e0bcb244cb" /><Relationship Type="http://schemas.openxmlformats.org/officeDocument/2006/relationships/notesSlide" Target="/ppt/notesSlides/notesSlide3.xml" Id="R1d3e564aedde4c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acaf703bc4e1a" /><Relationship Type="http://schemas.openxmlformats.org/officeDocument/2006/relationships/notesSlide" Target="/ppt/notesSlides/notesSlide4.xml" Id="Rf06799ccf6094e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725ec62a144b1" /><Relationship Type="http://schemas.openxmlformats.org/officeDocument/2006/relationships/notesSlide" Target="/ppt/notesSlides/notesSlide5.xml" Id="R89b75741335346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2fd0a464e4e7b" /><Relationship Type="http://schemas.openxmlformats.org/officeDocument/2006/relationships/notesSlide" Target="/ppt/notesSlides/notesSlide6.xml" Id="R0d546082befd42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526bc2fbc41aa" /><Relationship Type="http://schemas.openxmlformats.org/officeDocument/2006/relationships/notesSlide" Target="/ppt/notesSlides/notesSlide7.xml" Id="R77948f18aa274b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f78d2c2048476b" /><Relationship Type="http://schemas.openxmlformats.org/officeDocument/2006/relationships/notesSlide" Target="/ppt/notesSlides/notesSlide8.xml" Id="Rf21b04bed4de41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d8c43edb149a9" /><Relationship Type="http://schemas.openxmlformats.org/officeDocument/2006/relationships/notesSlide" Target="/ppt/notesSlides/notesSlide9.xml" Id="Ra9a3f63ce0ae4f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f285b703944a2" /><Relationship Type="http://schemas.openxmlformats.org/officeDocument/2006/relationships/notesSlide" Target="/ppt/notesSlides/notesSlide10.xml" Id="R67399e4622364f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3C2E"/>
        </a:solidFill>
      </p:bgPr>
    </p:bg>
    <p:spTree>
      <p:nvGrpSpPr>
        <p:cNvPr id="1" name=""/>
        <p:cNvGrpSpPr/>
        <p:nvPr/>
      </p:nvGrpSpPr>
      <p:grpSpPr/>
      <p:sp>
        <p:nvSpPr>
          <p:cNvPr id="100000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2E7D32"/>
              </a:solidFill>
            </a:endParaRPr>
          </a:p>
        </p:txBody>
      </p:sp>
      <p:sp>
        <p:nvSpPr>
          <p:cNvPr id="100001" name="MainTitle"/>
          <p:cNvSpPr txBox="1"/>
          <p:nvPr/>
        </p:nvSpPr>
        <p:spPr>
          <a:xfrm xmlns:a="http://schemas.openxmlformats.org/drawingml/2006/main">
            <a:off x="720000" y="1080000"/>
            <a:ext cx="10440000" cy="12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800" b="1">
                <a:solidFill>
                  <a:srgbClr val="F9A825"/>
                </a:solidFill>
                <a:latin typeface="Segoe UI"/>
                <a:ea typeface="Segoe UI"/>
              </a:rPr>
              <a:t>🦁 Gir AI Guardian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52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0">
                <a:solidFill>
                  <a:srgbClr val="C8E6C9"/>
                </a:solidFill>
                <a:latin typeface="Segoe UI"/>
                <a:ea typeface="Segoe UI"/>
              </a:rPr>
              <a:t>Human-Wildlife Conflict Mitigation System</a:t>
            </a:r>
          </a:p>
          <a:p xmlns:a="http://schemas.openxmlformats.org/drawingml/2006/main">
            <a:r>
              <a:rPr lang="en-US" sz="2200" b="0">
                <a:solidFill>
                  <a:srgbClr val="C8E6C9"/>
                </a:solidFill>
                <a:latin typeface="Segoe UI"/>
                <a:ea typeface="Segoe UI"/>
              </a:rPr>
              <a:t>A Multi-Agent AI Platform for Gir Forest, Gujarat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720000" y="3780000"/>
            <a:ext cx="1044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81C784"/>
                </a:solidFill>
                <a:latin typeface="Segoe UI"/>
                <a:ea typeface="Segoe UI"/>
              </a:rPr>
              <a:t>Powered by Groq AI  ·  LLaMA 3  ·  React + Node.js</a:t>
            </a:r>
          </a:p>
        </p:txBody>
      </p:sp>
      <p:sp>
        <p:nvSpPr>
          <p:cNvPr id="100004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2E7D32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5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A3C2E"/>
              </a:solidFill>
            </a:endParaRPr>
          </a:p>
        </p:txBody>
      </p:sp>
      <p:sp>
        <p:nvSpPr>
          <p:cNvPr id="100006" name="SlideTitle"/>
          <p:cNvSpPr txBox="1"/>
          <p:nvPr/>
        </p:nvSpPr>
        <p:spPr>
          <a:xfrm xmlns:a="http://schemas.openxmlformats.org/drawingml/2006/main">
            <a:off x="540000" y="72000"/>
            <a:ext cx="72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9A825"/>
                </a:solidFill>
                <a:latin typeface="Segoe UI"/>
                <a:ea typeface="Segoe UI"/>
              </a:rPr>
              <a:t>The Problem</a:t>
            </a:r>
          </a:p>
        </p:txBody>
      </p:sp>
      <p:sp>
        <p:nvSpPr>
          <p:cNvPr id="100007" name="SlideNum"/>
          <p:cNvSpPr txBox="1"/>
          <p:nvPr/>
        </p:nvSpPr>
        <p:spPr>
          <a:xfrm xmlns:a="http://schemas.openxmlformats.org/drawingml/2006/main">
            <a:off x="10800000" y="72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Segoe UI"/>
                <a:ea typeface="Segoe UI"/>
              </a:rPr>
              <a:t>02</a:t>
            </a:r>
          </a:p>
        </p:txBody>
      </p:sp>
      <p:sp>
        <p:nvSpPr>
          <p:cNvPr id="100008" name="Stat1"/>
          <p:cNvSpPr txBox="1"/>
          <p:nvPr/>
        </p:nvSpPr>
        <p:spPr>
          <a:xfrm xmlns:a="http://schemas.openxmlformats.org/drawingml/2006/main">
            <a:off x="360000" y="900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E65100"/>
                </a:solidFill>
                <a:latin typeface="Segoe UI"/>
                <a:ea typeface="Segoe UI"/>
              </a:rPr>
              <a:t>600+</a:t>
            </a:r>
          </a:p>
          <a:p xmlns:a="http://schemas.openxmlformats.org/drawingml/2006/main">
            <a:r>
              <a:rPr lang="en-US" sz="2800" b="1">
                <a:solidFill>
                  <a:srgbClr val="E65100"/>
                </a:solidFill>
                <a:latin typeface="Segoe UI"/>
                <a:ea typeface="Segoe UI"/>
              </a:rPr>
              <a:t>Asiatic Lions</a:t>
            </a:r>
          </a:p>
        </p:txBody>
      </p:sp>
      <p:sp>
        <p:nvSpPr>
          <p:cNvPr id="100009" name="Stat2"/>
          <p:cNvSpPr txBox="1"/>
          <p:nvPr/>
        </p:nvSpPr>
        <p:spPr>
          <a:xfrm xmlns:a="http://schemas.openxmlformats.org/drawingml/2006/main">
            <a:off x="3420000" y="900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B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B71C1C"/>
                </a:solidFill>
                <a:latin typeface="Segoe UI"/>
                <a:ea typeface="Segoe UI"/>
              </a:rPr>
              <a:t>300+</a:t>
            </a:r>
          </a:p>
          <a:p xmlns:a="http://schemas.openxmlformats.org/drawingml/2006/main">
            <a:r>
              <a:rPr lang="en-US" sz="2800" b="1">
                <a:solidFill>
                  <a:srgbClr val="B71C1C"/>
                </a:solidFill>
                <a:latin typeface="Segoe UI"/>
                <a:ea typeface="Segoe UI"/>
              </a:rPr>
              <a:t>Villages at Risk</a:t>
            </a:r>
          </a:p>
        </p:txBody>
      </p:sp>
      <p:sp>
        <p:nvSpPr>
          <p:cNvPr id="100010" name="Stat3"/>
          <p:cNvSpPr txBox="1"/>
          <p:nvPr/>
        </p:nvSpPr>
        <p:spPr>
          <a:xfrm xmlns:a="http://schemas.openxmlformats.org/drawingml/2006/main">
            <a:off x="6480000" y="900000"/>
            <a:ext cx="252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AF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1A237E"/>
                </a:solidFill>
                <a:latin typeface="Segoe UI"/>
                <a:ea typeface="Segoe UI"/>
              </a:rPr>
              <a:t>1,000+</a:t>
            </a:r>
          </a:p>
          <a:p xmlns:a="http://schemas.openxmlformats.org/drawingml/2006/main">
            <a:r>
              <a:rPr lang="en-US" sz="2800" b="1">
                <a:solidFill>
                  <a:srgbClr val="1A237E"/>
                </a:solidFill>
                <a:latin typeface="Segoe UI"/>
                <a:ea typeface="Segoe UI"/>
              </a:rPr>
              <a:t>Incidents/Year</a:t>
            </a:r>
          </a:p>
        </p:txBody>
      </p:sp>
      <p:sp>
        <p:nvSpPr>
          <p:cNvPr id="100011" name="Stat4"/>
          <p:cNvSpPr txBox="1"/>
          <p:nvPr/>
        </p:nvSpPr>
        <p:spPr>
          <a:xfrm xmlns:a="http://schemas.openxmlformats.org/drawingml/2006/main">
            <a:off x="9540000" y="900000"/>
            <a:ext cx="216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B5E20"/>
                </a:solidFill>
                <a:latin typeface="Segoe UI"/>
                <a:ea typeface="Segoe UI"/>
              </a:rPr>
              <a:t>₹Crore</a:t>
            </a:r>
          </a:p>
          <a:p xmlns:a="http://schemas.openxmlformats.org/drawingml/2006/main">
            <a:r>
              <a:rPr lang="en-US" sz="2600" b="1">
                <a:solidFill>
                  <a:srgbClr val="1B5E20"/>
                </a:solidFill>
                <a:latin typeface="Segoe UI"/>
                <a:ea typeface="Segoe UI"/>
              </a:rPr>
              <a:t>Livestock Losses</a:t>
            </a:r>
          </a:p>
        </p:txBody>
      </p:sp>
      <p:sp>
        <p:nvSpPr>
          <p:cNvPr id="100012" name="ChallengesTitle"/>
          <p:cNvSpPr txBox="1"/>
          <p:nvPr/>
        </p:nvSpPr>
        <p:spPr>
          <a:xfrm xmlns:a="http://schemas.openxmlformats.org/drawingml/2006/main">
            <a:off x="540000" y="270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A3C2E"/>
                </a:solidFill>
                <a:latin typeface="Segoe UI"/>
                <a:ea typeface="Segoe UI"/>
              </a:rPr>
              <a:t>Key Challenges</a:t>
            </a:r>
          </a:p>
        </p:txBody>
      </p:sp>
      <p:sp>
        <p:nvSpPr>
          <p:cNvPr id="100013" name="Challenges"/>
          <p:cNvSpPr txBox="1"/>
          <p:nvPr/>
        </p:nvSpPr>
        <p:spPr>
          <a:xfrm xmlns:a="http://schemas.openxmlformats.org/drawingml/2006/main">
            <a:off x="540000" y="3060000"/>
            <a:ext cx="10800000" cy="18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Segoe UI"/>
                <a:ea typeface="Segoe UI"/>
              </a:rPr>
              <a:t>• No real-time wildlife movement prediction system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Segoe UI"/>
                <a:ea typeface="Segoe UI"/>
              </a:rPr>
              <a:t>• Slow, manual alert dissemination to remote villages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Segoe UI"/>
                <a:ea typeface="Segoe UI"/>
              </a:rPr>
              <a:t>• Fragmented coordination between forest department teams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Segoe UI"/>
                <a:ea typeface="Segoe UI"/>
              </a:rPr>
              <a:t>• Opaque, paper-based livestock compensation process</a:t>
            </a:r>
          </a:p>
          <a:p xmlns:a="http://schemas.openxmlformats.org/drawingml/2006/main">
            <a:r>
              <a:rPr lang="en-US" sz="1800">
                <a:solidFill>
                  <a:srgbClr val="333333"/>
                </a:solidFill>
                <a:latin typeface="Segoe UI"/>
                <a:ea typeface="Segoe UI"/>
              </a:rPr>
              <a:t>• No data-driven conflict hotspot identification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A3C2E"/>
              </a:solidFill>
            </a:endParaRPr>
          </a:p>
        </p:txBody>
      </p:sp>
      <p:sp>
        <p:nvSpPr>
          <p:cNvPr id="100015" name="SlideTitle"/>
          <p:cNvSpPr txBox="1"/>
          <p:nvPr/>
        </p:nvSpPr>
        <p:spPr>
          <a:xfrm xmlns:a="http://schemas.openxmlformats.org/drawingml/2006/main">
            <a:off x="540000" y="72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9A825"/>
                </a:solidFill>
                <a:latin typeface="Segoe UI"/>
                <a:ea typeface="Segoe UI"/>
              </a:rPr>
              <a:t>Our Solution: Gir AI Guardian</a:t>
            </a:r>
          </a:p>
        </p:txBody>
      </p:sp>
      <p:sp>
        <p:nvSpPr>
          <p:cNvPr id="100016" name="SlideNum"/>
          <p:cNvSpPr txBox="1"/>
          <p:nvPr/>
        </p:nvSpPr>
        <p:spPr>
          <a:xfrm xmlns:a="http://schemas.openxmlformats.org/drawingml/2006/main">
            <a:off x="10800000" y="72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Segoe UI"/>
                <a:ea typeface="Segoe UI"/>
              </a:rPr>
              <a:t>03</a:t>
            </a:r>
          </a:p>
        </p:txBody>
      </p:sp>
      <p:sp>
        <p:nvSpPr>
          <p:cNvPr id="100017" name="Intro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44444"/>
                </a:solidFill>
                <a:latin typeface="Segoe UI"/>
                <a:ea typeface="Segoe UI"/>
              </a:rPr>
              <a:t>A single, unified multi-agent AI platform that connects wildlife prediction, emergency alerting, team coordination, compensation guidance, and conflict analytics — all in real time.</a:t>
            </a:r>
          </a:p>
        </p:txBody>
      </p:sp>
      <p:sp>
        <p:nvSpPr>
          <p:cNvPr id="100018" name="Agent1"/>
          <p:cNvSpPr txBox="1"/>
          <p:nvPr/>
        </p:nvSpPr>
        <p:spPr>
          <a:xfrm xmlns:a="http://schemas.openxmlformats.org/drawingml/2006/main">
            <a:off x="180000" y="1620000"/>
            <a:ext cx="45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E65100"/>
                </a:solidFill>
                <a:latin typeface="Segoe UI"/>
                <a:ea typeface="Segoe UI"/>
              </a:rPr>
              <a:t>🦁 Wildlife Movement</a:t>
            </a:r>
          </a:p>
          <a:p xmlns:a="http://schemas.openxmlformats.org/drawingml/2006/main">
            <a:r>
              <a:rPr lang="en-US" sz="1600" b="0">
                <a:solidFill>
                  <a:srgbClr val="E65100"/>
                </a:solidFill>
                <a:latin typeface="Segoe UI"/>
                <a:ea typeface="Segoe UI"/>
              </a:rPr>
              <a:t>Predict lion &amp; leopard movement, assess village risk</a:t>
            </a:r>
          </a:p>
        </p:txBody>
      </p:sp>
      <p:sp>
        <p:nvSpPr>
          <p:cNvPr id="100019" name="Agent2"/>
          <p:cNvSpPr txBox="1"/>
          <p:nvPr/>
        </p:nvSpPr>
        <p:spPr>
          <a:xfrm xmlns:a="http://schemas.openxmlformats.org/drawingml/2006/main">
            <a:off x="4860000" y="1620000"/>
            <a:ext cx="45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B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71C1C"/>
                </a:solidFill>
                <a:latin typeface="Segoe UI"/>
                <a:ea typeface="Segoe UI"/>
              </a:rPr>
              <a:t>🚨 Village Alert</a:t>
            </a:r>
          </a:p>
          <a:p xmlns:a="http://schemas.openxmlformats.org/drawingml/2006/main">
            <a:r>
              <a:rPr lang="en-US" sz="1600" b="0">
                <a:solidFill>
                  <a:srgbClr val="B71C1C"/>
                </a:solidFill>
                <a:latin typeface="Segoe UI"/>
                <a:ea typeface="Segoe UI"/>
              </a:rPr>
              <a:t>Generate multilingual emergency alerts instantly</a:t>
            </a:r>
          </a:p>
        </p:txBody>
      </p:sp>
      <p:sp>
        <p:nvSpPr>
          <p:cNvPr id="100020" name="Agent3"/>
          <p:cNvSpPr txBox="1"/>
          <p:nvPr/>
        </p:nvSpPr>
        <p:spPr>
          <a:xfrm xmlns:a="http://schemas.openxmlformats.org/drawingml/2006/main">
            <a:off x="9540000" y="1620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🌲 Forest Coordination</a:t>
            </a:r>
          </a:p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Deploy response teams with precision action plans</a:t>
            </a:r>
          </a:p>
        </p:txBody>
      </p:sp>
      <p:sp>
        <p:nvSpPr>
          <p:cNvPr id="100021" name="Agent4"/>
          <p:cNvSpPr txBox="1"/>
          <p:nvPr/>
        </p:nvSpPr>
        <p:spPr>
          <a:xfrm xmlns:a="http://schemas.openxmlformats.org/drawingml/2006/main">
            <a:off x="180000" y="3060000"/>
            <a:ext cx="57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4A148C"/>
                </a:solidFill>
                <a:latin typeface="Segoe UI"/>
                <a:ea typeface="Segoe UI"/>
              </a:rPr>
              <a:t>💰 Compensation Assistant</a:t>
            </a:r>
          </a:p>
          <a:p xmlns:a="http://schemas.openxmlformats.org/drawingml/2006/main">
            <a:r>
              <a:rPr lang="en-US" sz="1600" b="0">
                <a:solidFill>
                  <a:srgbClr val="4A148C"/>
                </a:solidFill>
                <a:latin typeface="Segoe UI"/>
                <a:ea typeface="Segoe UI"/>
              </a:rPr>
              <a:t>Guide victims step-by-step through claim process</a:t>
            </a:r>
          </a:p>
        </p:txBody>
      </p:sp>
      <p:sp>
        <p:nvSpPr>
          <p:cNvPr id="100022" name="Agent5"/>
          <p:cNvSpPr txBox="1"/>
          <p:nvPr/>
        </p:nvSpPr>
        <p:spPr>
          <a:xfrm xmlns:a="http://schemas.openxmlformats.org/drawingml/2006/main">
            <a:off x="6120000" y="3060000"/>
            <a:ext cx="57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📊 Hotspot Analysis</a:t>
            </a:r>
          </a:p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Identify conflict zones, predict risk, recommend prevention</a:t>
            </a:r>
          </a:p>
        </p:txBody>
      </p:sp>
      <p:sp>
        <p:nvSpPr>
          <p:cNvPr id="100023" name="Impact"/>
          <p:cNvSpPr txBox="1"/>
          <p:nvPr/>
        </p:nvSpPr>
        <p:spPr>
          <a:xfrm xmlns:a="http://schemas.openxmlformats.org/drawingml/2006/main">
            <a:off x="540000" y="4500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A3C2E"/>
                </a:solidFill>
                <a:latin typeface="Segoe UI"/>
                <a:ea typeface="Segoe UI"/>
              </a:rPr>
              <a:t>Outcome: Faster response times, safer villages, transparent compensation &amp; data-driven forest management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100024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A3C2E"/>
              </a:solidFill>
            </a:endParaRPr>
          </a:p>
        </p:txBody>
      </p:sp>
      <p:sp>
        <p:nvSpPr>
          <p:cNvPr id="100025" name="SlideTitle"/>
          <p:cNvSpPr txBox="1"/>
          <p:nvPr/>
        </p:nvSpPr>
        <p:spPr>
          <a:xfrm xmlns:a="http://schemas.openxmlformats.org/drawingml/2006/main">
            <a:off x="540000" y="72000"/>
            <a:ext cx="936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9A825"/>
                </a:solidFill>
                <a:latin typeface="Segoe UI"/>
                <a:ea typeface="Segoe UI"/>
              </a:rPr>
              <a:t>System Architecture</a:t>
            </a:r>
          </a:p>
        </p:txBody>
      </p:sp>
      <p:sp>
        <p:nvSpPr>
          <p:cNvPr id="100026" name="SlideNum"/>
          <p:cNvSpPr txBox="1"/>
          <p:nvPr/>
        </p:nvSpPr>
        <p:spPr>
          <a:xfrm xmlns:a="http://schemas.openxmlformats.org/drawingml/2006/main">
            <a:off x="10800000" y="72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Segoe UI"/>
                <a:ea typeface="Segoe UI"/>
              </a:rPr>
              <a:t>04</a:t>
            </a:r>
          </a:p>
        </p:txBody>
      </p:sp>
      <p:sp>
        <p:nvSpPr>
          <p:cNvPr id="100027" name="FrontendBox"/>
          <p:cNvSpPr txBox="1"/>
          <p:nvPr/>
        </p:nvSpPr>
        <p:spPr>
          <a:xfrm xmlns:a="http://schemas.openxmlformats.org/drawingml/2006/main">
            <a:off x="360000" y="900000"/>
            <a:ext cx="324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FRONTEND</a:t>
            </a:r>
          </a:p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React + Vite</a:t>
            </a:r>
          </a:p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Tailwind CSS</a:t>
            </a:r>
          </a:p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Recharts</a:t>
            </a:r>
          </a:p>
          <a:p xmlns:a="http://schemas.openxmlformats.org/drawingml/2006/main">
            <a:r>
              <a:rPr lang="en-US" sz="1600" b="0">
                <a:solidFill>
                  <a:srgbClr val="0D47A1"/>
                </a:solidFill>
                <a:latin typeface="Segoe UI"/>
                <a:ea typeface="Segoe UI"/>
              </a:rPr>
              <a:t>localhost:5173</a:t>
            </a:r>
          </a:p>
        </p:txBody>
      </p:sp>
      <p:sp>
        <p:nvSpPr>
          <p:cNvPr id="100028" name="Arrow1"/>
          <p:cNvSpPr txBox="1"/>
          <p:nvPr/>
        </p:nvSpPr>
        <p:spPr>
          <a:xfrm xmlns:a="http://schemas.openxmlformats.org/drawingml/2006/main">
            <a:off x="3780000" y="198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555555"/>
                </a:solidFill>
                <a:latin typeface="Segoe UI"/>
                <a:ea typeface="Segoe UI"/>
              </a:rPr>
              <a:t>REST + SSE  ➜</a:t>
            </a:r>
          </a:p>
        </p:txBody>
      </p:sp>
      <p:sp>
        <p:nvSpPr>
          <p:cNvPr id="100029" name="BackendBox"/>
          <p:cNvSpPr txBox="1"/>
          <p:nvPr/>
        </p:nvSpPr>
        <p:spPr>
          <a:xfrm xmlns:a="http://schemas.openxmlformats.org/drawingml/2006/main">
            <a:off x="5760000" y="900000"/>
            <a:ext cx="324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BACKEND</a:t>
            </a:r>
          </a:p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Node.js + Express</a:t>
            </a:r>
          </a:p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Session Store</a:t>
            </a:r>
          </a:p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SSE Streaming</a:t>
            </a:r>
          </a:p>
          <a:p xmlns:a="http://schemas.openxmlformats.org/drawingml/2006/main">
            <a:r>
              <a:rPr lang="en-US" sz="1600" b="0">
                <a:solidFill>
                  <a:srgbClr val="1B5E20"/>
                </a:solidFill>
                <a:latin typeface="Segoe UI"/>
                <a:ea typeface="Segoe UI"/>
              </a:rPr>
              <a:t>localhost:3001</a:t>
            </a:r>
          </a:p>
        </p:txBody>
      </p:sp>
      <p:sp>
        <p:nvSpPr>
          <p:cNvPr id="100030" name="Arrow2"/>
          <p:cNvSpPr txBox="1"/>
          <p:nvPr/>
        </p:nvSpPr>
        <p:spPr>
          <a:xfrm xmlns:a="http://schemas.openxmlformats.org/drawingml/2006/main">
            <a:off x="9180000" y="1980000"/>
            <a:ext cx="14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555555"/>
                </a:solidFill>
                <a:latin typeface="Segoe UI"/>
                <a:ea typeface="Segoe UI"/>
              </a:rPr>
              <a:t>Groq SDK  ➜</a:t>
            </a:r>
          </a:p>
        </p:txBody>
      </p:sp>
      <p:sp>
        <p:nvSpPr>
          <p:cNvPr id="100031" name="AIBox"/>
          <p:cNvSpPr txBox="1"/>
          <p:nvPr/>
        </p:nvSpPr>
        <p:spPr>
          <a:xfrm xmlns:a="http://schemas.openxmlformats.org/drawingml/2006/main">
            <a:off x="10800000" y="900000"/>
            <a:ext cx="126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4A148C"/>
                </a:solidFill>
                <a:latin typeface="Segoe UI"/>
                <a:ea typeface="Segoe UI"/>
              </a:rPr>
              <a:t>GROQ AI</a:t>
            </a:r>
          </a:p>
          <a:p xmlns:a="http://schemas.openxmlformats.org/drawingml/2006/main">
            <a:r>
              <a:rPr lang="en-US" sz="1200" b="0">
                <a:solidFill>
                  <a:srgbClr val="4A148C"/>
                </a:solidFill>
                <a:latin typeface="Segoe UI"/>
                <a:ea typeface="Segoe UI"/>
              </a:rPr>
              <a:t>LLaMA 3.3 70B</a:t>
            </a:r>
          </a:p>
          <a:p xmlns:a="http://schemas.openxmlformats.org/drawingml/2006/main">
            <a:r>
              <a:rPr lang="en-US" sz="1200" b="0">
                <a:solidFill>
                  <a:srgbClr val="4A148C"/>
                </a:solidFill>
                <a:latin typeface="Segoe UI"/>
                <a:ea typeface="Segoe UI"/>
              </a:rPr>
              <a:t>5 Agent Prompts</a:t>
            </a:r>
          </a:p>
          <a:p xmlns:a="http://schemas.openxmlformats.org/drawingml/2006/main">
            <a:r>
              <a:rPr lang="en-US" sz="1200" b="0">
                <a:solidFill>
                  <a:srgbClr val="4A148C"/>
                </a:solidFill>
                <a:latin typeface="Segoe UI"/>
                <a:ea typeface="Segoe UI"/>
              </a:rPr>
              <a:t>Streaming API</a:t>
            </a:r>
          </a:p>
          <a:p xmlns:a="http://schemas.openxmlformats.org/drawingml/2006/main">
            <a:r>
              <a:rPr lang="en-US" sz="1200" b="0">
                <a:solidFill>
                  <a:srgbClr val="4A148C"/>
                </a:solidFill>
                <a:latin typeface="Segoe UI"/>
                <a:ea typeface="Segoe UI"/>
              </a:rPr>
              <a:t>max 2048 tokens</a:t>
            </a:r>
          </a:p>
        </p:txBody>
      </p:sp>
      <p:sp>
        <p:nvSpPr>
          <p:cNvPr id="100032" name="AgentsRow"/>
          <p:cNvSpPr txBox="1"/>
          <p:nvPr/>
        </p:nvSpPr>
        <p:spPr>
          <a:xfrm xmlns:a="http://schemas.openxmlformats.org/drawingml/2006/main">
            <a:off x="360000" y="4500000"/>
            <a:ext cx="115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1A3C2E"/>
                </a:solidFill>
                <a:latin typeface="Segoe UI"/>
                <a:ea typeface="Segoe UI"/>
              </a:rPr>
              <a:t>5 Specialized Agents:  🦁 Wildlife Movement  |  🚨 Village Alert  |  🌲 Forest Coordination  |  💰 Compensation  |  📊 Hotspot Analysis</a:t>
            </a:r>
          </a:p>
        </p:txBody>
      </p:sp>
      <p:sp>
        <p:nvSpPr>
          <p:cNvPr id="100033" name="Features"/>
          <p:cNvSpPr txBox="1"/>
          <p:nvPr/>
        </p:nvSpPr>
        <p:spPr>
          <a:xfrm xmlns:a="http://schemas.openxmlformats.org/drawingml/2006/main">
            <a:off x="360000" y="5220000"/>
            <a:ext cx="115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Real-time SSE streaming   ✓ In-memory session history   ✓ CORS-secured   ✓ Dark/Light theme   ✓ Mobile responsive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3C2E"/>
        </a:solidFill>
      </p:bgPr>
    </p:bg>
    <p:spTree>
      <p:nvGrpSpPr>
        <p:cNvPr id="1" name=""/>
        <p:cNvGrpSpPr/>
        <p:nvPr/>
      </p:nvGrpSpPr>
      <p:grpSpPr/>
      <p:sp>
        <p:nvSpPr>
          <p:cNvPr id="100034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82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9A825"/>
              </a:solidFill>
            </a:endParaRPr>
          </a:p>
        </p:txBody>
      </p:sp>
      <p:sp>
        <p:nvSpPr>
          <p:cNvPr id="100035" name="SlideTitle"/>
          <p:cNvSpPr txBox="1"/>
          <p:nvPr/>
        </p:nvSpPr>
        <p:spPr>
          <a:xfrm xmlns:a="http://schemas.openxmlformats.org/drawingml/2006/main">
            <a:off x="540000" y="54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1A3C2E"/>
                </a:solidFill>
                <a:latin typeface="Segoe UI"/>
                <a:ea typeface="Segoe UI"/>
              </a:rPr>
              <a:t>🦁 Wildlife Movement Agent</a:t>
            </a:r>
          </a:p>
        </p:txBody>
      </p:sp>
      <p:sp>
        <p:nvSpPr>
          <p:cNvPr id="100036" name="SlideNum"/>
          <p:cNvSpPr txBox="1"/>
          <p:nvPr/>
        </p:nvSpPr>
        <p:spPr>
          <a:xfrm xmlns:a="http://schemas.openxmlformats.org/drawingml/2006/main">
            <a:off x="10800000" y="54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1A3C2E"/>
                </a:solidFill>
                <a:latin typeface="Segoe UI"/>
                <a:ea typeface="Segoe UI"/>
              </a:rPr>
              <a:t>05</a:t>
            </a:r>
          </a:p>
        </p:txBody>
      </p:sp>
      <p:sp>
        <p:nvSpPr>
          <p:cNvPr id="100037" name="Purpose"/>
          <p:cNvSpPr txBox="1"/>
          <p:nvPr/>
        </p:nvSpPr>
        <p:spPr>
          <a:xfrm xmlns:a="http://schemas.openxmlformats.org/drawingml/2006/main">
            <a:off x="540000" y="72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8E6C9"/>
                </a:solidFill>
                <a:latin typeface="Segoe UI"/>
                <a:ea typeface="Segoe UI"/>
              </a:rPr>
              <a:t>Purpose: Predict lion &amp; leopard movement patterns, assess village risk levels, and recommend patrol priorities using sighting data, time of day, and seasonal patterns.</a:t>
            </a:r>
          </a:p>
        </p:txBody>
      </p:sp>
      <p:sp>
        <p:nvSpPr>
          <p:cNvPr id="100038" name="OutputTitle"/>
          <p:cNvSpPr txBox="1"/>
          <p:nvPr/>
        </p:nvSpPr>
        <p:spPr>
          <a:xfrm xmlns:a="http://schemas.openxmlformats.org/drawingml/2006/main">
            <a:off x="540000" y="162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F9A825"/>
                </a:solidFill>
                <a:latin typeface="Segoe UI"/>
                <a:ea typeface="Segoe UI"/>
              </a:rPr>
              <a:t>Structured Response Includes:</a:t>
            </a:r>
          </a:p>
        </p:txBody>
      </p:sp>
      <p:sp>
        <p:nvSpPr>
          <p:cNvPr id="100039" name="Output"/>
          <p:cNvSpPr txBox="1"/>
          <p:nvPr/>
        </p:nvSpPr>
        <p:spPr>
          <a:xfrm xmlns:a="http://schemas.openxmlformats.org/drawingml/2006/main">
            <a:off x="540000" y="1980000"/>
            <a:ext cx="6480000" cy="28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🔴 Risk Level (Critical / High / Medium / Low)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🗺️ Predicted Movement — direction &amp; path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⏰ Time Window — when risk is highest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🏘️ Affected Villages — with distance estimates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⚠️ Alert Recommendation — specific actions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🚔 Patrol Priority — team deployment zones</a:t>
            </a:r>
          </a:p>
          <a:p xmlns:a="http://schemas.openxmlformats.org/drawingml/2006/main">
            <a:r>
              <a:rPr lang="en-US" sz="1700">
                <a:solidFill>
                  <a:srgbClr val="E8F5E9"/>
                </a:solidFill>
                <a:latin typeface="Segoe UI"/>
                <a:ea typeface="Segoe UI"/>
              </a:rPr>
              <a:t>📊 Confidence Score — prediction accuracy %</a:t>
            </a:r>
          </a:p>
        </p:txBody>
      </p:sp>
      <p:sp>
        <p:nvSpPr>
          <p:cNvPr id="100040" name="QuickPromptsTitle"/>
          <p:cNvSpPr txBox="1"/>
          <p:nvPr/>
        </p:nvSpPr>
        <p:spPr>
          <a:xfrm xmlns:a="http://schemas.openxmlformats.org/drawingml/2006/main">
            <a:off x="7560000" y="1620000"/>
            <a:ext cx="43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 b="1">
                <a:solidFill>
                  <a:srgbClr val="F9A825"/>
                </a:solidFill>
                <a:latin typeface="Segoe UI"/>
                <a:ea typeface="Segoe UI"/>
              </a:rPr>
              <a:t>Example Queries:</a:t>
            </a:r>
          </a:p>
        </p:txBody>
      </p:sp>
      <p:sp>
        <p:nvSpPr>
          <p:cNvPr id="100041" name="QuickPrompts"/>
          <p:cNvSpPr txBox="1"/>
          <p:nvPr/>
        </p:nvSpPr>
        <p:spPr>
          <a:xfrm xmlns:a="http://schemas.openxmlformats.org/drawingml/2006/main">
            <a:off x="7560000" y="1980000"/>
            <a:ext cx="4320000" cy="21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C8E6C9"/>
                </a:solidFill>
                <a:latin typeface="Segoe UI"/>
                <a:ea typeface="Segoe UI"/>
              </a:rPr>
              <a:t>• "A lion was spotted near Sasan village at 6 PM tonight"</a:t>
            </a:r>
          </a:p>
          <a:p xmlns:a="http://schemas.openxmlformats.org/drawingml/2006/main">
            <a:r>
              <a:rPr lang="en-US" sz="1500">
                <a:solidFill>
                  <a:srgbClr val="C8E6C9"/>
                </a:solidFill>
                <a:latin typeface="Segoe UI"/>
                <a:ea typeface="Segoe UI"/>
              </a:rPr>
              <a:t>• "Predict movement for northern Gir zone"</a:t>
            </a:r>
          </a:p>
          <a:p xmlns:a="http://schemas.openxmlformats.org/drawingml/2006/main">
            <a:r>
              <a:rPr lang="en-US" sz="1500">
                <a:solidFill>
                  <a:srgbClr val="C8E6C9"/>
                </a:solidFill>
                <a:latin typeface="Segoe UI"/>
                <a:ea typeface="Segoe UI"/>
              </a:rPr>
              <a:t>• "Risk level for villages near Dhari area?"</a:t>
            </a:r>
          </a:p>
          <a:p xmlns:a="http://schemas.openxmlformats.org/drawingml/2006/main">
            <a:r>
              <a:rPr lang="en-US" sz="1500">
                <a:solidFill>
                  <a:srgbClr val="C8E6C9"/>
                </a:solidFill>
                <a:latin typeface="Segoe UI"/>
                <a:ea typeface="Segoe UI"/>
              </a:rPr>
              <a:t>• "Analyze recent leopard sightings in eastern corridor"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42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1C1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B71C1C"/>
              </a:solidFill>
            </a:endParaRPr>
          </a:p>
        </p:txBody>
      </p:sp>
      <p:sp>
        <p:nvSpPr>
          <p:cNvPr id="100043" name="SlideTitle"/>
          <p:cNvSpPr txBox="1"/>
          <p:nvPr/>
        </p:nvSpPr>
        <p:spPr>
          <a:xfrm xmlns:a="http://schemas.openxmlformats.org/drawingml/2006/main">
            <a:off x="540000" y="54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Segoe UI"/>
                <a:ea typeface="Segoe UI"/>
              </a:rPr>
              <a:t>🚨 Village Alert Agent  &amp;  🌲 Forest Coordination Agent</a:t>
            </a:r>
          </a:p>
        </p:txBody>
      </p:sp>
      <p:sp>
        <p:nvSpPr>
          <p:cNvPr id="100044" name="SlideNum"/>
          <p:cNvSpPr txBox="1"/>
          <p:nvPr/>
        </p:nvSpPr>
        <p:spPr>
          <a:xfrm xmlns:a="http://schemas.openxmlformats.org/drawingml/2006/main">
            <a:off x="10800000" y="54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CDD2"/>
                </a:solidFill>
                <a:latin typeface="Segoe UI"/>
                <a:ea typeface="Segoe UI"/>
              </a:rPr>
              <a:t>06</a:t>
            </a:r>
          </a:p>
        </p:txBody>
      </p:sp>
      <p:sp>
        <p:nvSpPr>
          <p:cNvPr id="100045" name="AlertTitle"/>
          <p:cNvSpPr txBox="1"/>
          <p:nvPr/>
        </p:nvSpPr>
        <p:spPr>
          <a:xfrm xmlns:a="http://schemas.openxmlformats.org/drawingml/2006/main">
            <a:off x="180000" y="720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B71C1C"/>
                </a:solidFill>
                <a:latin typeface="Segoe UI"/>
                <a:ea typeface="Segoe UI"/>
              </a:rPr>
              <a:t>🚨 Village Alert Agent</a:t>
            </a:r>
          </a:p>
        </p:txBody>
      </p:sp>
      <p:sp>
        <p:nvSpPr>
          <p:cNvPr id="100046" name="AlertDesc"/>
          <p:cNvSpPr txBox="1"/>
          <p:nvPr/>
        </p:nvSpPr>
        <p:spPr>
          <a:xfrm xmlns:a="http://schemas.openxmlformats.org/drawingml/2006/main">
            <a:off x="180000" y="1152000"/>
            <a:ext cx="57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Generates clear, panic-free emergency alerts structured with alert type, affected location, wildlife species, safety actions, emergency contacts, and multilingual messages (Hindi + Gujarati).</a:t>
            </a:r>
          </a:p>
        </p:txBody>
      </p:sp>
      <p:sp>
        <p:nvSpPr>
          <p:cNvPr id="100047" name="AlertFeats"/>
          <p:cNvSpPr txBox="1"/>
          <p:nvPr/>
        </p:nvSpPr>
        <p:spPr>
          <a:xfrm xmlns:a="http://schemas.openxmlformats.org/drawingml/2006/main">
            <a:off x="180000" y="2160000"/>
            <a:ext cx="576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B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ALERT TYPE: Emergency/Warning/Advisory/All-Clear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Multilingual: Hindi &amp; Gujarati safety messages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Emergency contact numbers auto-included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Numbered safety action checklist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Valid-until timestamp</a:t>
            </a:r>
          </a:p>
        </p:txBody>
      </p:sp>
      <p:sp>
        <p:nvSpPr>
          <p:cNvPr id="100048" name="CoordTitle"/>
          <p:cNvSpPr txBox="1"/>
          <p:nvPr/>
        </p:nvSpPr>
        <p:spPr>
          <a:xfrm xmlns:a="http://schemas.openxmlformats.org/drawingml/2006/main">
            <a:off x="6300000" y="720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5E20"/>
                </a:solidFill>
                <a:latin typeface="Segoe UI"/>
                <a:ea typeface="Segoe UI"/>
              </a:rPr>
              <a:t>🌲 Forest Coordination Agent</a:t>
            </a:r>
          </a:p>
        </p:txBody>
      </p:sp>
      <p:sp>
        <p:nvSpPr>
          <p:cNvPr id="100049" name="CoordDesc"/>
          <p:cNvSpPr txBox="1"/>
          <p:nvPr/>
        </p:nvSpPr>
        <p:spPr>
          <a:xfrm xmlns:a="http://schemas.openxmlformats.org/drawingml/2006/main">
            <a:off x="6300000" y="1152000"/>
            <a:ext cx="576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Generates military-style deployment plans: team assignments, vehicle/equipment needs, staging points, response timelines, communication protocols, and escalation criteria.</a:t>
            </a:r>
          </a:p>
        </p:txBody>
      </p:sp>
      <p:sp>
        <p:nvSpPr>
          <p:cNvPr id="100050" name="CoordFeats"/>
          <p:cNvSpPr txBox="1"/>
          <p:nvPr/>
        </p:nvSpPr>
        <p:spPr>
          <a:xfrm xmlns:a="http://schemas.openxmlformats.org/drawingml/2006/main">
            <a:off x="6300000" y="2160000"/>
            <a:ext cx="576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Deployment plans with personnel roles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Vehicle &amp; equipment resource lists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Phase-wise response timelines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Radio channels &amp; check-in schedules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Escalation &amp; documentation protocols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1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4A148C"/>
              </a:solidFill>
            </a:endParaRPr>
          </a:p>
        </p:txBody>
      </p:sp>
      <p:sp>
        <p:nvSpPr>
          <p:cNvPr id="100052" name="SlideTitle"/>
          <p:cNvSpPr txBox="1"/>
          <p:nvPr/>
        </p:nvSpPr>
        <p:spPr>
          <a:xfrm xmlns:a="http://schemas.openxmlformats.org/drawingml/2006/main">
            <a:off x="540000" y="54000"/>
            <a:ext cx="1008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FFFF"/>
                </a:solidFill>
                <a:latin typeface="Segoe UI"/>
                <a:ea typeface="Segoe UI"/>
              </a:rPr>
              <a:t>💰 Compensation Agent  &amp;  📊 Hotspot Analysis Agent</a:t>
            </a:r>
          </a:p>
        </p:txBody>
      </p:sp>
      <p:sp>
        <p:nvSpPr>
          <p:cNvPr id="100053" name="SlideNum"/>
          <p:cNvSpPr txBox="1"/>
          <p:nvPr/>
        </p:nvSpPr>
        <p:spPr>
          <a:xfrm xmlns:a="http://schemas.openxmlformats.org/drawingml/2006/main">
            <a:off x="10800000" y="54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1BEE7"/>
                </a:solidFill>
                <a:latin typeface="Segoe UI"/>
                <a:ea typeface="Segoe UI"/>
              </a:rPr>
              <a:t>07</a:t>
            </a:r>
          </a:p>
        </p:txBody>
      </p:sp>
      <p:sp>
        <p:nvSpPr>
          <p:cNvPr id="100054" name="CompTitle"/>
          <p:cNvSpPr txBox="1"/>
          <p:nvPr/>
        </p:nvSpPr>
        <p:spPr>
          <a:xfrm xmlns:a="http://schemas.openxmlformats.org/drawingml/2006/main">
            <a:off x="180000" y="720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4A148C"/>
                </a:solidFill>
                <a:latin typeface="Segoe UI"/>
                <a:ea typeface="Segoe UI"/>
              </a:rPr>
              <a:t>💰 Compensation Assistant Agent</a:t>
            </a:r>
          </a:p>
        </p:txBody>
      </p:sp>
      <p:sp>
        <p:nvSpPr>
          <p:cNvPr id="100055" name="CompDesc"/>
          <p:cNvSpPr txBox="1"/>
          <p:nvPr/>
        </p:nvSpPr>
        <p:spPr>
          <a:xfrm xmlns:a="http://schemas.openxmlformats.org/drawingml/2006/main">
            <a:off x="180000" y="1152000"/>
            <a:ext cx="57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Empathetically guides affected farmers through the Gujarat Forest Department livestock compensation process with clear, jargon-free instructions.</a:t>
            </a:r>
          </a:p>
        </p:txBody>
      </p:sp>
      <p:sp>
        <p:nvSpPr>
          <p:cNvPr id="100056" name="CompFeats"/>
          <p:cNvSpPr txBox="1"/>
          <p:nvPr/>
        </p:nvSpPr>
        <p:spPr>
          <a:xfrm xmlns:a="http://schemas.openxmlformats.org/drawingml/2006/main">
            <a:off x="180000" y="1980000"/>
            <a:ext cx="57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Claim eligibility check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Complete document checklist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Step-by-step application guidance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Current compensation rates by livestock type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Processing timeline &amp; submission office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Status tracking &amp; follow-up tips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Common mistakes to avoid</a:t>
            </a:r>
          </a:p>
        </p:txBody>
      </p:sp>
      <p:sp>
        <p:nvSpPr>
          <p:cNvPr id="100057" name="HotspotTitle"/>
          <p:cNvSpPr txBox="1"/>
          <p:nvPr/>
        </p:nvSpPr>
        <p:spPr>
          <a:xfrm xmlns:a="http://schemas.openxmlformats.org/drawingml/2006/main">
            <a:off x="6300000" y="720000"/>
            <a:ext cx="576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D47A1"/>
                </a:solidFill>
                <a:latin typeface="Segoe UI"/>
                <a:ea typeface="Segoe UI"/>
              </a:rPr>
              <a:t>📊 Hotspot Analysis Agent</a:t>
            </a:r>
          </a:p>
        </p:txBody>
      </p:sp>
      <p:sp>
        <p:nvSpPr>
          <p:cNvPr id="100058" name="HotspotDesc"/>
          <p:cNvSpPr txBox="1"/>
          <p:nvPr/>
        </p:nvSpPr>
        <p:spPr>
          <a:xfrm xmlns:a="http://schemas.openxmlformats.org/drawingml/2006/main">
            <a:off x="6300000" y="1152000"/>
            <a:ext cx="576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Analyzes historical conflict data to identify high-risk zones, detect seasonal patterns, and generate data-driven prevention recommendations for forest management.</a:t>
            </a:r>
          </a:p>
        </p:txBody>
      </p:sp>
      <p:sp>
        <p:nvSpPr>
          <p:cNvPr id="100059" name="HotspotFeats"/>
          <p:cNvSpPr txBox="1"/>
          <p:nvPr/>
        </p:nvSpPr>
        <p:spPr>
          <a:xfrm xmlns:a="http://schemas.openxmlformats.org/drawingml/2006/main">
            <a:off x="6300000" y="1980000"/>
            <a:ext cx="576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Hotspot villages ranked by risk score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Temporal &amp; spatial conflict trends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Species-level incident breakdown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Seasonal pattern analysis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Village risk matrix (High/Med/Low)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Predictive early-warning indicators</a:t>
            </a:r>
          </a:p>
          <a:p xmlns:a="http://schemas.openxmlformats.org/drawingml/2006/main">
            <a:r>
              <a:rPr lang="en-US" sz="1500">
                <a:solidFill>
                  <a:srgbClr val="444444"/>
                </a:solidFill>
                <a:latin typeface="Segoe UI"/>
                <a:ea typeface="Segoe UI"/>
              </a:rPr>
              <a:t>✓ Top 3 priority action recommendations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0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47A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0D47A1"/>
              </a:solidFill>
            </a:endParaRPr>
          </a:p>
        </p:txBody>
      </p:sp>
      <p:sp>
        <p:nvSpPr>
          <p:cNvPr id="100061" name="SlideTitle"/>
          <p:cNvSpPr txBox="1"/>
          <p:nvPr/>
        </p:nvSpPr>
        <p:spPr>
          <a:xfrm xmlns:a="http://schemas.openxmlformats.org/drawingml/2006/main">
            <a:off x="540000" y="54000"/>
            <a:ext cx="936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</a:rPr>
              <a:t>📊 Live Dashboard &amp; Key Metrics</a:t>
            </a:r>
          </a:p>
        </p:txBody>
      </p:sp>
      <p:sp>
        <p:nvSpPr>
          <p:cNvPr id="100062" name="SlideNum"/>
          <p:cNvSpPr txBox="1"/>
          <p:nvPr/>
        </p:nvSpPr>
        <p:spPr>
          <a:xfrm xmlns:a="http://schemas.openxmlformats.org/drawingml/2006/main">
            <a:off x="10800000" y="54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BBDEFB"/>
                </a:solidFill>
                <a:latin typeface="Segoe UI"/>
                <a:ea typeface="Segoe UI"/>
              </a:rPr>
              <a:t>08</a:t>
            </a:r>
          </a:p>
        </p:txBody>
      </p:sp>
      <p:sp>
        <p:nvSpPr>
          <p:cNvPr id="100063" name="KPI1"/>
          <p:cNvSpPr txBox="1"/>
          <p:nvPr/>
        </p:nvSpPr>
        <p:spPr>
          <a:xfrm xmlns:a="http://schemas.openxmlformats.org/drawingml/2006/main">
            <a:off x="180000" y="792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BE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B71C1C"/>
                </a:solidFill>
                <a:latin typeface="Segoe UI"/>
                <a:ea typeface="Segoe UI"/>
              </a:rPr>
              <a:t>🚨 7</a:t>
            </a:r>
          </a:p>
          <a:p xmlns:a="http://schemas.openxmlformats.org/drawingml/2006/main">
            <a:r>
              <a:rPr lang="en-US" sz="1800" b="1">
                <a:solidFill>
                  <a:srgbClr val="B71C1C"/>
                </a:solidFill>
                <a:latin typeface="Segoe UI"/>
                <a:ea typeface="Segoe UI"/>
              </a:rPr>
              <a:t>Active Alerts</a:t>
            </a:r>
          </a:p>
          <a:p xmlns:a="http://schemas.openxmlformats.org/drawingml/2006/main">
            <a:r>
              <a:rPr lang="en-US" sz="1800" b="1">
                <a:solidFill>
                  <a:srgbClr val="B71C1C"/>
                </a:solidFill>
                <a:latin typeface="Segoe UI"/>
                <a:ea typeface="Segoe UI"/>
              </a:rPr>
              <a:t>+2 today</a:t>
            </a:r>
          </a:p>
        </p:txBody>
      </p:sp>
      <p:sp>
        <p:nvSpPr>
          <p:cNvPr id="100064" name="KPI2"/>
          <p:cNvSpPr txBox="1"/>
          <p:nvPr/>
        </p:nvSpPr>
        <p:spPr>
          <a:xfrm xmlns:a="http://schemas.openxmlformats.org/drawingml/2006/main">
            <a:off x="2520000" y="792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🏘️ 12</a:t>
            </a:r>
          </a:p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High-Risk Villages</a:t>
            </a:r>
          </a:p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+3 this week</a:t>
            </a:r>
          </a:p>
        </p:txBody>
      </p:sp>
      <p:sp>
        <p:nvSpPr>
          <p:cNvPr id="100065" name="KPI3"/>
          <p:cNvSpPr txBox="1"/>
          <p:nvPr/>
        </p:nvSpPr>
        <p:spPr>
          <a:xfrm xmlns:a="http://schemas.openxmlformats.org/drawingml/2006/main">
            <a:off x="4860000" y="792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1B5E20"/>
                </a:solidFill>
                <a:latin typeface="Segoe UI"/>
                <a:ea typeface="Segoe UI"/>
              </a:rPr>
              <a:t>🌲 5</a:t>
            </a:r>
          </a:p>
          <a:p xmlns:a="http://schemas.openxmlformats.org/drawingml/2006/main">
            <a:r>
              <a:rPr lang="en-US" sz="1800" b="1">
                <a:solidFill>
                  <a:srgbClr val="1B5E20"/>
                </a:solidFill>
                <a:latin typeface="Segoe UI"/>
                <a:ea typeface="Segoe UI"/>
              </a:rPr>
              <a:t>Response Teams</a:t>
            </a:r>
          </a:p>
          <a:p xmlns:a="http://schemas.openxmlformats.org/drawingml/2006/main">
            <a:r>
              <a:rPr lang="en-US" sz="1800" b="1">
                <a:solidFill>
                  <a:srgbClr val="1B5E20"/>
                </a:solidFill>
                <a:latin typeface="Segoe UI"/>
                <a:ea typeface="Segoe UI"/>
              </a:rPr>
              <a:t>Currently Active</a:t>
            </a:r>
          </a:p>
        </p:txBody>
      </p:sp>
      <p:sp>
        <p:nvSpPr>
          <p:cNvPr id="100066" name="KPI4"/>
          <p:cNvSpPr txBox="1"/>
          <p:nvPr/>
        </p:nvSpPr>
        <p:spPr>
          <a:xfrm xmlns:a="http://schemas.openxmlformats.org/drawingml/2006/main">
            <a:off x="7200000" y="792000"/>
            <a:ext cx="216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4A148C"/>
                </a:solidFill>
                <a:latin typeface="Segoe UI"/>
                <a:ea typeface="Segoe UI"/>
              </a:rPr>
              <a:t>💰 34</a:t>
            </a:r>
          </a:p>
          <a:p xmlns:a="http://schemas.openxmlformats.org/drawingml/2006/main">
            <a:r>
              <a:rPr lang="en-US" sz="1800" b="1">
                <a:solidFill>
                  <a:srgbClr val="4A148C"/>
                </a:solidFill>
                <a:latin typeface="Segoe UI"/>
                <a:ea typeface="Segoe UI"/>
              </a:rPr>
              <a:t>Pending Cases</a:t>
            </a:r>
          </a:p>
          <a:p xmlns:a="http://schemas.openxmlformats.org/drawingml/2006/main">
            <a:r>
              <a:rPr lang="en-US" sz="1800" b="1">
                <a:solidFill>
                  <a:srgbClr val="4A148C"/>
                </a:solidFill>
                <a:latin typeface="Segoe UI"/>
                <a:ea typeface="Segoe UI"/>
              </a:rPr>
              <a:t>-5 from last week</a:t>
            </a:r>
          </a:p>
        </p:txBody>
      </p:sp>
      <p:sp>
        <p:nvSpPr>
          <p:cNvPr id="100067" name="KPI5"/>
          <p:cNvSpPr txBox="1"/>
          <p:nvPr/>
        </p:nvSpPr>
        <p:spPr>
          <a:xfrm xmlns:a="http://schemas.openxmlformats.org/drawingml/2006/main">
            <a:off x="9540000" y="792000"/>
            <a:ext cx="234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🦁 9</a:t>
            </a:r>
          </a:p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Movement Predictions</a:t>
            </a:r>
          </a:p>
          <a:p xmlns:a="http://schemas.openxmlformats.org/drawingml/2006/main">
            <a:r>
              <a:rPr lang="en-US" sz="1800" b="1">
                <a:solidFill>
                  <a:srgbClr val="E65100"/>
                </a:solidFill>
                <a:latin typeface="Segoe UI"/>
                <a:ea typeface="Segoe UI"/>
              </a:rPr>
              <a:t>+1 new</a:t>
            </a:r>
          </a:p>
        </p:txBody>
      </p:sp>
      <p:sp>
        <p:nvSpPr>
          <p:cNvPr id="100068" name="HotspotsTitle"/>
          <p:cNvSpPr txBox="1"/>
          <p:nvPr/>
        </p:nvSpPr>
        <p:spPr>
          <a:xfrm xmlns:a="http://schemas.openxmlformats.org/drawingml/2006/main">
            <a:off x="180000" y="2160000"/>
            <a:ext cx="72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D47A1"/>
                </a:solidFill>
                <a:latin typeface="Segoe UI"/>
                <a:ea typeface="Segoe UI"/>
              </a:rPr>
              <a:t>Top Conflict Hotspot Villages (Incidents)</a:t>
            </a:r>
          </a:p>
        </p:txBody>
      </p:sp>
      <p:sp>
        <p:nvSpPr>
          <p:cNvPr id="100069" name="Hotspots"/>
          <p:cNvSpPr txBox="1"/>
          <p:nvPr/>
        </p:nvSpPr>
        <p:spPr>
          <a:xfrm xmlns:a="http://schemas.openxmlformats.org/drawingml/2006/main">
            <a:off x="180000" y="2520000"/>
            <a:ext cx="648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🔴 Sasan Gir — 24 incidents (Critical)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🟠 Babariya — 18 incidents (High)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🟠 Mendarda — 15 incidents (High)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🟡 Dhari — 11 incidents (Medium)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🟡 Talala — 9 incidents (Medium)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🟡 Visavadar — 7 incidents (Medium)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🟢 Kodinar — 4 incidents (Low)</a:t>
            </a:r>
          </a:p>
        </p:txBody>
      </p:sp>
      <p:sp>
        <p:nvSpPr>
          <p:cNvPr id="100070" name="ResponseTime"/>
          <p:cNvSpPr txBox="1"/>
          <p:nvPr/>
        </p:nvSpPr>
        <p:spPr>
          <a:xfrm xmlns:a="http://schemas.openxmlformats.org/drawingml/2006/main">
            <a:off x="7200000" y="2160000"/>
            <a:ext cx="4680000" cy="28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Response Time Improvement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Jan: 38 min  →  Aug: 22 min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📉 42% faster response over 8 months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/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Compensation Cases (Aug)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Filed: 34  |  Approved: 27  |  Rejected: 5</a:t>
            </a:r>
          </a:p>
          <a:p xmlns:a="http://schemas.openxmlformats.org/drawingml/2006/main">
            <a:r>
              <a:rPr lang="en-US" sz="1500">
                <a:solidFill>
                  <a:srgbClr val="333333"/>
                </a:solidFill>
                <a:latin typeface="Segoe UI"/>
                <a:ea typeface="Segoe UI"/>
              </a:rPr>
              <a:t>✅ 79% approval rate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A"/>
        </a:solidFill>
      </p:bgPr>
    </p:bg>
    <p:spTree>
      <p:nvGrpSpPr>
        <p:cNvPr id="1" name=""/>
        <p:cNvGrpSpPr/>
        <p:nvPr/>
      </p:nvGrpSpPr>
      <p:grpSpPr/>
      <p:sp>
        <p:nvSpPr>
          <p:cNvPr id="100071" name="HeaderBar"/>
          <p:cNvSpPr txBox="1"/>
          <p:nvPr/>
        </p:nvSpPr>
        <p:spPr>
          <a:xfrm xmlns:a="http://schemas.openxmlformats.org/drawingml/2006/main">
            <a:off x="0" y="0"/>
            <a:ext cx="121932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C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1A3C2E"/>
              </a:solidFill>
            </a:endParaRPr>
          </a:p>
        </p:txBody>
      </p:sp>
      <p:sp>
        <p:nvSpPr>
          <p:cNvPr id="100072" name="SlideTitle"/>
          <p:cNvSpPr txBox="1"/>
          <p:nvPr/>
        </p:nvSpPr>
        <p:spPr>
          <a:xfrm xmlns:a="http://schemas.openxmlformats.org/drawingml/2006/main">
            <a:off x="540000" y="54000"/>
            <a:ext cx="936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9A825"/>
                </a:solidFill>
                <a:latin typeface="Segoe UI"/>
                <a:ea typeface="Segoe UI"/>
              </a:rPr>
              <a:t>Technology Stack</a:t>
            </a:r>
          </a:p>
        </p:txBody>
      </p:sp>
      <p:sp>
        <p:nvSpPr>
          <p:cNvPr id="100073" name="SlideNum"/>
          <p:cNvSpPr txBox="1"/>
          <p:nvPr/>
        </p:nvSpPr>
        <p:spPr>
          <a:xfrm xmlns:a="http://schemas.openxmlformats.org/drawingml/2006/main">
            <a:off x="10800000" y="54000"/>
            <a:ext cx="900000" cy="3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Segoe UI"/>
                <a:ea typeface="Segoe UI"/>
              </a:rPr>
              <a:t>09</a:t>
            </a:r>
          </a:p>
        </p:txBody>
      </p:sp>
      <p:sp>
        <p:nvSpPr>
          <p:cNvPr id="100074" name="FETitle"/>
          <p:cNvSpPr txBox="1"/>
          <p:nvPr/>
        </p:nvSpPr>
        <p:spPr>
          <a:xfrm xmlns:a="http://schemas.openxmlformats.org/drawingml/2006/main">
            <a:off x="180000" y="900000"/>
            <a:ext cx="36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D47A1"/>
                </a:solidFill>
                <a:latin typeface="Segoe UI"/>
                <a:ea typeface="Segoe UI"/>
              </a:rPr>
              <a:t>Frontend</a:t>
            </a:r>
          </a:p>
        </p:txBody>
      </p:sp>
      <p:sp>
        <p:nvSpPr>
          <p:cNvPr id="100075" name="FEStack"/>
          <p:cNvSpPr txBox="1"/>
          <p:nvPr/>
        </p:nvSpPr>
        <p:spPr>
          <a:xfrm xmlns:a="http://schemas.openxmlformats.org/drawingml/2006/main">
            <a:off x="180000" y="1260000"/>
            <a:ext cx="36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F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⚛️  React 18 + Vite 5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💨  Tailwind CSS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📈  Recharts (data visualization)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🔷  React Context API (state)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🌙  Dark / Light theme toggle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📱  Fully responsive layout</a:t>
            </a:r>
          </a:p>
        </p:txBody>
      </p:sp>
      <p:sp>
        <p:nvSpPr>
          <p:cNvPr id="100076" name="BETitle"/>
          <p:cNvSpPr txBox="1"/>
          <p:nvPr/>
        </p:nvSpPr>
        <p:spPr>
          <a:xfrm xmlns:a="http://schemas.openxmlformats.org/drawingml/2006/main">
            <a:off x="4320000" y="900000"/>
            <a:ext cx="36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1B5E20"/>
                </a:solidFill>
                <a:latin typeface="Segoe UI"/>
                <a:ea typeface="Segoe UI"/>
              </a:rPr>
              <a:t>Backend</a:t>
            </a:r>
          </a:p>
        </p:txBody>
      </p:sp>
      <p:sp>
        <p:nvSpPr>
          <p:cNvPr id="100077" name="BEStack"/>
          <p:cNvSpPr txBox="1"/>
          <p:nvPr/>
        </p:nvSpPr>
        <p:spPr>
          <a:xfrm xmlns:a="http://schemas.openxmlformats.org/drawingml/2006/main">
            <a:off x="4320000" y="1260000"/>
            <a:ext cx="360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🟢  Node.js + Express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📡  Server-Sent Events (streaming)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💾  In-memory session store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🔐  CORS-secured endpoints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📋  RESTful chat history API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🔑  dotenv configuration</a:t>
            </a:r>
          </a:p>
        </p:txBody>
      </p:sp>
      <p:sp>
        <p:nvSpPr>
          <p:cNvPr id="100078" name="AITitle"/>
          <p:cNvSpPr txBox="1"/>
          <p:nvPr/>
        </p:nvSpPr>
        <p:spPr>
          <a:xfrm xmlns:a="http://schemas.openxmlformats.org/drawingml/2006/main">
            <a:off x="8460000" y="900000"/>
            <a:ext cx="34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4A148C"/>
                </a:solidFill>
                <a:latin typeface="Segoe UI"/>
                <a:ea typeface="Segoe UI"/>
              </a:rPr>
              <a:t>AI &amp; Intelligence</a:t>
            </a:r>
          </a:p>
        </p:txBody>
      </p:sp>
      <p:sp>
        <p:nvSpPr>
          <p:cNvPr id="100079" name="AIStack"/>
          <p:cNvSpPr txBox="1"/>
          <p:nvPr/>
        </p:nvSpPr>
        <p:spPr>
          <a:xfrm xmlns:a="http://schemas.openxmlformats.org/drawingml/2006/main">
            <a:off x="8460000" y="1260000"/>
            <a:ext cx="3420000" cy="25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5F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🤖  Groq API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🦙  LLaMA 3.3 70B model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🧠  5 domain system prompts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⚡  Ultra-fast inference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📝  2048 token responses</a:t>
            </a:r>
          </a:p>
          <a:p xmlns:a="http://schemas.openxmlformats.org/drawingml/2006/main">
            <a:r>
              <a:rPr lang="en-US" sz="1600">
                <a:solidFill>
                  <a:srgbClr val="333333"/>
                </a:solidFill>
                <a:latin typeface="Segoe UI"/>
                <a:ea typeface="Segoe UI"/>
              </a:rPr>
              <a:t>🌡️  Temperature 0.7</a:t>
            </a:r>
          </a:p>
        </p:txBody>
      </p:sp>
      <p:sp>
        <p:nvSpPr>
          <p:cNvPr id="100080" name="WhyGroq"/>
          <p:cNvSpPr txBox="1"/>
          <p:nvPr/>
        </p:nvSpPr>
        <p:spPr>
          <a:xfrm xmlns:a="http://schemas.openxmlformats.org/drawingml/2006/main">
            <a:off x="180000" y="4320000"/>
            <a:ext cx="117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E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700" b="1">
                <a:solidFill>
                  <a:srgbClr val="1A3C2E"/>
                </a:solidFill>
                <a:latin typeface="Segoe UI"/>
                <a:ea typeface="Segoe UI"/>
              </a:rPr>
              <a:t>Why Groq?  Ultra-low latency inference — responses stream in real time, enabling live emergency alerting with no perceptible delay.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A3C2E"/>
        </a:solidFill>
      </p:bgPr>
    </p:bg>
    <p:spTree>
      <p:nvGrpSpPr>
        <p:cNvPr id="1" name=""/>
        <p:cNvGrpSpPr/>
        <p:nvPr/>
      </p:nvGrpSpPr>
      <p:grpSpPr/>
      <p:sp>
        <p:nvSpPr>
          <p:cNvPr id="100081" name="TopAccent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A82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F9A825"/>
              </a:solidFill>
            </a:endParaRPr>
          </a:p>
        </p:txBody>
      </p:sp>
      <p:sp>
        <p:nvSpPr>
          <p:cNvPr id="100082" name="SlideNum"/>
          <p:cNvSpPr txBox="1"/>
          <p:nvPr/>
        </p:nvSpPr>
        <p:spPr>
          <a:xfrm xmlns:a="http://schemas.openxmlformats.org/drawingml/2006/main">
            <a:off x="10800000" y="360000"/>
            <a:ext cx="9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81C784"/>
                </a:solidFill>
                <a:latin typeface="Segoe UI"/>
                <a:ea typeface="Segoe UI"/>
              </a:rPr>
              <a:t>10</a:t>
            </a:r>
          </a:p>
        </p:txBody>
      </p:sp>
      <p:sp>
        <p:nvSpPr>
          <p:cNvPr id="100083" name="ConcTitle"/>
          <p:cNvSpPr txBox="1"/>
          <p:nvPr/>
        </p:nvSpPr>
        <p:spPr>
          <a:xfrm xmlns:a="http://schemas.openxmlformats.org/drawingml/2006/main">
            <a:off x="720000" y="540000"/>
            <a:ext cx="972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9A825"/>
                </a:solidFill>
                <a:latin typeface="Segoe UI"/>
                <a:ea typeface="Segoe UI"/>
              </a:rPr>
              <a:t>Impact &amp; Future Roadmap</a:t>
            </a:r>
          </a:p>
        </p:txBody>
      </p:sp>
      <p:sp>
        <p:nvSpPr>
          <p:cNvPr id="100084" name="ImpactTitle"/>
          <p:cNvSpPr txBox="1"/>
          <p:nvPr/>
        </p:nvSpPr>
        <p:spPr>
          <a:xfrm xmlns:a="http://schemas.openxmlformats.org/drawingml/2006/main">
            <a:off x="540000" y="126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8E6C9"/>
                </a:solidFill>
                <a:latin typeface="Segoe UI"/>
                <a:ea typeface="Segoe UI"/>
              </a:rPr>
              <a:t>Demonstrated Impact</a:t>
            </a:r>
          </a:p>
        </p:txBody>
      </p:sp>
      <p:sp>
        <p:nvSpPr>
          <p:cNvPr id="100085" name="Impact"/>
          <p:cNvSpPr txBox="1"/>
          <p:nvPr/>
        </p:nvSpPr>
        <p:spPr>
          <a:xfrm xmlns:a="http://schemas.openxmlformats.org/drawingml/2006/main">
            <a:off x="540000" y="1620000"/>
            <a:ext cx="54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42% reduction in emergency response time</a:t>
            </a:r>
          </a:p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Real-time multilingual village alerts</a:t>
            </a:r>
          </a:p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79% livestock compensation approval rate</a:t>
            </a:r>
          </a:p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Unified platform replacing 5 manual processes</a:t>
            </a:r>
          </a:p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Predictive risk scoring for 7 hotspot villages</a:t>
            </a:r>
          </a:p>
          <a:p xmlns:a="http://schemas.openxmlformats.org/drawingml/2006/main">
            <a:r>
              <a:rPr lang="en-US" sz="1600">
                <a:solidFill>
                  <a:srgbClr val="E8F5E9"/>
                </a:solidFill>
                <a:latin typeface="Segoe UI"/>
                <a:ea typeface="Segoe UI"/>
              </a:rPr>
              <a:t>✅ 24/7 AI-assisted forest department support</a:t>
            </a:r>
          </a:p>
        </p:txBody>
      </p:sp>
      <p:sp>
        <p:nvSpPr>
          <p:cNvPr id="100086" name="RoadmapTitle"/>
          <p:cNvSpPr txBox="1"/>
          <p:nvPr/>
        </p:nvSpPr>
        <p:spPr>
          <a:xfrm xmlns:a="http://schemas.openxmlformats.org/drawingml/2006/main">
            <a:off x="6480000" y="1260000"/>
            <a:ext cx="54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C8E6C9"/>
                </a:solidFill>
                <a:latin typeface="Segoe UI"/>
                <a:ea typeface="Segoe UI"/>
              </a:rPr>
              <a:t>Future Roadmap</a:t>
            </a:r>
          </a:p>
        </p:txBody>
      </p:sp>
      <p:sp>
        <p:nvSpPr>
          <p:cNvPr id="100087" name="Roadmap"/>
          <p:cNvSpPr txBox="1"/>
          <p:nvPr/>
        </p:nvSpPr>
        <p:spPr>
          <a:xfrm xmlns:a="http://schemas.openxmlformats.org/drawingml/2006/main">
            <a:off x="6480000" y="1620000"/>
            <a:ext cx="5400000" cy="25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GPS collar integration for real-time tracking</a:t>
            </a:r>
          </a:p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Mobile app for village field workers</a:t>
            </a:r>
          </a:p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SMS-based alerts for low-connectivity areas</a:t>
            </a:r>
          </a:p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Computer vision for camera trap analysis</a:t>
            </a:r>
          </a:p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Persistent database (MongoDB / PostgreSQL)</a:t>
            </a:r>
          </a:p>
          <a:p xmlns:a="http://schemas.openxmlformats.org/drawingml/2006/main">
            <a:r>
              <a:rPr lang="en-US" sz="1600">
                <a:solidFill>
                  <a:srgbClr val="C8E6C9"/>
                </a:solidFill>
                <a:latin typeface="Segoe UI"/>
                <a:ea typeface="Segoe UI"/>
              </a:rPr>
              <a:t>🔮 Expansion to other human-wildlife corridors</a:t>
            </a:r>
          </a:p>
        </p:txBody>
      </p:sp>
      <p:sp>
        <p:nvSpPr>
          <p:cNvPr id="100088" name="ClosingTag"/>
          <p:cNvSpPr txBox="1"/>
          <p:nvPr/>
        </p:nvSpPr>
        <p:spPr>
          <a:xfrm xmlns:a="http://schemas.openxmlformats.org/drawingml/2006/main">
            <a:off x="720000" y="4500000"/>
            <a:ext cx="1044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9A825"/>
                </a:solidFill>
                <a:latin typeface="Segoe UI"/>
                <a:ea typeface="Segoe UI"/>
              </a:rPr>
              <a:t>Protecting Wildlife. Protecting Communities. Powered by AI.</a:t>
            </a:r>
          </a:p>
        </p:txBody>
      </p:sp>
      <p:sp>
        <p:nvSpPr>
          <p:cNvPr id="100089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3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1000">
              <a:solidFill>
                <a:srgbClr val="2E7D32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2026-10-10T14:03:02Z</dcterms:created>
  <cp:lastModifiedBy>OfficeCLI</cp:lastModifiedBy>
  <dcterms:modified xsi:type="dcterms:W3CDTF">2026-10-10T14:03:02Z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1.0.156</vt:lpwstr>
  </op:property>
  <op:property fmtid="{D5CDD505-2E9C-101B-9397-08002B2CF9AE}" pid="3" name="OfficeCLI.LastModified">
    <vt:lpwstr xmlns:vt="http://schemas.openxmlformats.org/officeDocument/2006/docPropsVTypes">2026-10-10T14:07:10Z</vt:lpwstr>
  </op:property>
</op:Properties>
</file>